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F4F8FC"/>
                </a:solidFill>
                <a:latin typeface="Aptos"/>
              </a:defRPr>
            </a:pPr>
            <a:r>
              <a:t>Can an LLM understand a game tileset?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52728"/>
            <a:ext cx="1188720" cy="50292"/>
          </a:xfrm>
          <a:prstGeom prst="roundRect">
            <a:avLst/>
          </a:prstGeom>
          <a:solidFill>
            <a:srgbClr val="4E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9C9D8"/>
                </a:solidFill>
                <a:latin typeface="Aptos"/>
              </a:defRPr>
            </a:pPr>
            <a:r>
              <a:t>Benchmarking LLM Tile Understanding and Tile Use  •  UCSC Augmented Design Lab  •  October 27,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64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B9C9D8"/>
                </a:solidFill>
                <a:latin typeface="Aptos"/>
              </a:defRPr>
            </a:pPr>
            <a:r>
              <a:t>1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4F8FC"/>
                </a:solidFill>
                <a:latin typeface="Aptos"/>
              </a:defRPr>
            </a:pPr>
            <a:r>
              <a:t>From recognizing tile relationships</a:t>
            </a:r>
          </a:p>
          <a:p>
            <a:pPr>
              <a:spcAft>
                <a:spcPts val="1400"/>
              </a:spcAft>
              <a:defRPr sz="3600" b="1">
                <a:solidFill>
                  <a:srgbClr val="F4F8FC"/>
                </a:solidFill>
                <a:latin typeface="Aptos"/>
              </a:defRPr>
            </a:pPr>
            <a:r>
              <a:t>to generating coherent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4ECFC6"/>
                </a:solidFill>
                <a:latin typeface="Aptos"/>
              </a:defRPr>
            </a:pPr>
            <a:r>
              <a:t>Research proposal  •  Existing WFC/SAT experience  •  Invitation to collaborate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F4F8FC"/>
                </a:solidFill>
                <a:latin typeface="Aptos"/>
              </a:defRPr>
            </a:pPr>
            <a:r>
              <a:t>Three research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52728"/>
            <a:ext cx="1188720" cy="50292"/>
          </a:xfrm>
          <a:prstGeom prst="roundRect">
            <a:avLst/>
          </a:prstGeom>
          <a:solidFill>
            <a:srgbClr val="4E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9C9D8"/>
                </a:solidFill>
                <a:latin typeface="Aptos"/>
              </a:defRPr>
            </a:pPr>
            <a:r>
              <a:t>Framing proposed by Jim Whitehead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64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B9C9D8"/>
                </a:solidFill>
                <a:latin typeface="Aptos"/>
              </a:defRPr>
            </a:pPr>
            <a:r>
              <a:t>2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20440" cy="333756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76272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4ECFC6"/>
                </a:solidFill>
                <a:latin typeface="Aptos"/>
              </a:defRPr>
            </a:pPr>
            <a:r>
              <a:t>01  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07208"/>
            <a:ext cx="313639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Given a tileset, can an LLM construct a coherent game level?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520440" cy="333756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176272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FFC65B"/>
                </a:solidFill>
                <a:latin typeface="Aptos"/>
              </a:defRPr>
            </a:pPr>
            <a:r>
              <a:t>02  RELATE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807208"/>
            <a:ext cx="313639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Can it infer possible relationships among individual tiles and groups?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520440" cy="333756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176272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4ECFC6"/>
                </a:solidFill>
                <a:latin typeface="Aptos"/>
              </a:defRPr>
            </a:pPr>
            <a:r>
              <a:t>03  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807208"/>
            <a:ext cx="313639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How much does seeing example levels improve its performance?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Zelda: original and generated levels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52728"/>
            <a:ext cx="1188720" cy="50292"/>
          </a:xfrm>
          <a:prstGeom prst="roundRect">
            <a:avLst/>
          </a:prstGeom>
          <a:solidFill>
            <a:srgbClr val="4E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Existing WFC / SAT examples — motivation for testing higher-level tile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64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B9C9D8"/>
                </a:solidFill>
                <a:latin typeface="Aptos"/>
              </a:defRPr>
            </a:pPr>
            <a:r>
              <a:t>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057400"/>
            <a:ext cx="3675887" cy="3584448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40280"/>
            <a:ext cx="3429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D3F"/>
                </a:solidFill>
              </a:rPr>
              <a:t>Original Zelda map</a:t>
            </a:r>
          </a:p>
        </p:txBody>
      </p:sp>
      <p:pic>
        <p:nvPicPr>
          <p:cNvPr id="8" name="Picture 7" descr="zelda-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63240"/>
            <a:ext cx="3337560" cy="1152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" y="4434840"/>
            <a:ext cx="3337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74B5A"/>
                </a:solidFill>
              </a:rPr>
              <a:t>Reference example: complete map structures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057400"/>
            <a:ext cx="3675887" cy="3584448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240280"/>
            <a:ext cx="3429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D3F"/>
                </a:solidFill>
              </a:rPr>
              <a:t>Context-sensitive WFC</a:t>
            </a:r>
          </a:p>
        </p:txBody>
      </p:sp>
      <p:pic>
        <p:nvPicPr>
          <p:cNvPr id="12" name="Picture 11" descr="zelda-1x1-context-ordinary-wfc-seed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2816352"/>
            <a:ext cx="2395728" cy="2395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36008" y="5276088"/>
            <a:ext cx="33375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74B5A"/>
                </a:solidFill>
              </a:rPr>
              <a:t>Generated output, seed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93608" y="2057400"/>
            <a:ext cx="3675887" cy="3584448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2240280"/>
            <a:ext cx="3429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2D3F"/>
                </a:solidFill>
              </a:rPr>
              <a:t>Context-sensitive WFC-as-SAT</a:t>
            </a:r>
          </a:p>
        </p:txBody>
      </p:sp>
      <p:pic>
        <p:nvPicPr>
          <p:cNvPr id="16" name="Picture 15" descr="zelda-1x1-context-ordinary-wfc-seed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88" y="2816352"/>
            <a:ext cx="2395728" cy="23957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76488" y="5276088"/>
            <a:ext cx="33375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74B5A"/>
                </a:solidFill>
              </a:rPr>
              <a:t>Generated output, seed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824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D3F52"/>
                </a:solidFill>
              </a:rPr>
              <a:t>Tiny Town: explicit house constraints also motivated the proposed relationship-inference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F4F8FC"/>
                </a:solidFill>
                <a:latin typeface="Aptos"/>
              </a:defRPr>
            </a:pPr>
            <a:r>
              <a:t>A tileset is not just a bag of images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52728"/>
            <a:ext cx="1188720" cy="50292"/>
          </a:xfrm>
          <a:prstGeom prst="roundRect">
            <a:avLst/>
          </a:prstGeom>
          <a:solidFill>
            <a:srgbClr val="4E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9C9D8"/>
                </a:solidFill>
                <a:latin typeface="Aptos"/>
              </a:defRPr>
            </a:pPr>
            <a:r>
              <a:t>Candidate relationships to ask a multimodal model to identify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64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B9C9D8"/>
                </a:solidFill>
                <a:latin typeface="Aptos"/>
              </a:defRPr>
            </a:pPr>
            <a:r>
              <a:t>4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20440" cy="333756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76272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4ECFC6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07208"/>
            <a:ext cx="313639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4F8FC"/>
                </a:solidFill>
                <a:latin typeface="Aptos"/>
              </a:defRPr>
            </a:pPr>
            <a:r>
              <a:t>roof • wall • floor • door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520440" cy="333756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176272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FFC65B"/>
                </a:solidFill>
                <a:latin typeface="Aptos"/>
              </a:defRPr>
            </a:pPr>
            <a:r>
              <a:t>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807208"/>
            <a:ext cx="313639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4F8FC"/>
                </a:solidFill>
                <a:latin typeface="Aptos"/>
              </a:defRPr>
            </a:pPr>
            <a:r>
              <a:t>which tiles connect at edges?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011680"/>
            <a:ext cx="3520440" cy="333756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176272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4ECFC6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807208"/>
            <a:ext cx="313639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4F8FC"/>
                </a:solidFill>
                <a:latin typeface="Aptos"/>
              </a:defRPr>
            </a:pPr>
            <a:r>
              <a:t>which groups form a house or room?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7424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9C9D8"/>
                </a:solidFill>
                <a:latin typeface="Aptos"/>
              </a:defRPr>
            </a:pPr>
            <a:r>
              <a:t>Predictions are hypotheses; evaluate them against annotated examples and explicit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F4F8FC"/>
                </a:solidFill>
                <a:latin typeface="Aptos"/>
              </a:defRPr>
            </a:pPr>
            <a:r>
              <a:t>The central experiment: examples or no examples?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52728"/>
            <a:ext cx="1188720" cy="50292"/>
          </a:xfrm>
          <a:prstGeom prst="roundRect">
            <a:avLst/>
          </a:prstGeom>
          <a:solidFill>
            <a:srgbClr val="4E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9C9D8"/>
                </a:solidFill>
                <a:latin typeface="Aptos"/>
              </a:defRPr>
            </a:pPr>
            <a:r>
              <a:t>Hold model, task, tile IDs, and scoring constant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64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B9C9D8"/>
                </a:solidFill>
                <a:latin typeface="Aptos"/>
              </a:defRPr>
            </a:pPr>
            <a:r>
              <a:t>5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5212080" cy="306324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4ECFC6"/>
                </a:solidFill>
                <a:latin typeface="Aptos"/>
              </a:defRPr>
            </a:pPr>
            <a:r>
              <a:t>A — TILESET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52928"/>
            <a:ext cx="482803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F4F8FC"/>
                </a:solidFill>
                <a:latin typeface="Aptos"/>
              </a:defRPr>
            </a:pPr>
            <a:r>
              <a:t>Atlas + tile IDs + identical question or construction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2057400"/>
            <a:ext cx="5212080" cy="306324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222199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FFC65B"/>
                </a:solidFill>
                <a:latin typeface="Aptos"/>
              </a:defRPr>
            </a:pPr>
            <a:r>
              <a:t>B — TILESET +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2852928"/>
            <a:ext cx="482803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F4F8FC"/>
                </a:solidFill>
                <a:latin typeface="Aptos"/>
              </a:defRPr>
            </a:pPr>
            <a:r>
              <a:t>Same atlas and task, plus one or more example levels.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F4F8FC"/>
                </a:solidFill>
                <a:latin typeface="Aptos"/>
              </a:defRPr>
            </a:pPr>
            <a:r>
              <a:t>Initial candidates: Kenney Tiny Town, Tiny Dungeon, Tiny Farm; Zelda as another 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F4F8FC"/>
                </a:solidFill>
                <a:latin typeface="Aptos"/>
              </a:defRPr>
            </a:pPr>
            <a:r>
              <a:t>Tasks and measurements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52728"/>
            <a:ext cx="1188720" cy="50292"/>
          </a:xfrm>
          <a:prstGeom prst="roundRect">
            <a:avLst/>
          </a:prstGeom>
          <a:solidFill>
            <a:srgbClr val="4E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9C9D8"/>
                </a:solidFill>
                <a:latin typeface="Aptos"/>
              </a:defRPr>
            </a:pPr>
            <a:r>
              <a:t>A small, reproducible benchmark before expanding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64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B9C9D8"/>
                </a:solidFill>
                <a:latin typeface="Aptos"/>
              </a:defRPr>
            </a:pPr>
            <a:r>
              <a:t>6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38528"/>
            <a:ext cx="5440680" cy="347472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0312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4ECFC6"/>
                </a:solidFill>
                <a:latin typeface="Aptos"/>
              </a:defRPr>
            </a:pPr>
            <a:r>
              <a:t>MODEL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34056"/>
            <a:ext cx="50566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Identify tile roles</a:t>
            </a:r>
          </a:p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Predict adjacency or assemblies</a:t>
            </a:r>
          </a:p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Generate a tile-ID grid</a:t>
            </a:r>
          </a:p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Repair a broken arrangement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38528"/>
            <a:ext cx="5303520" cy="347472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103120"/>
            <a:ext cx="49377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FFC65B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734056"/>
            <a:ext cx="49194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Valid IDs and grid dimensions</a:t>
            </a:r>
          </a:p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Constraint satisfaction</a:t>
            </a:r>
          </a:p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Precision / recall / F1 where labeled</a:t>
            </a:r>
          </a:p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Blind human coherence rubric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9C9D8"/>
                </a:solidFill>
                <a:latin typeface="Aptos"/>
              </a:defRPr>
            </a:pPr>
            <a:r>
              <a:t>Record prompts, inputs, model versions, outputs, and scoring for repeatable comparisons.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F4F8FC"/>
                </a:solidFill>
                <a:latin typeface="Aptos"/>
              </a:defRPr>
            </a:pPr>
            <a:r>
              <a:t>A small project that others can join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52728"/>
            <a:ext cx="1188720" cy="50292"/>
          </a:xfrm>
          <a:prstGeom prst="roundRect">
            <a:avLst/>
          </a:prstGeom>
          <a:solidFill>
            <a:srgbClr val="4E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9C9D8"/>
                </a:solidFill>
                <a:latin typeface="Aptos"/>
              </a:defRPr>
            </a:pPr>
            <a:r>
              <a:t>First milestone: one tileset, a few annotated tasks, and two input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64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B9C9D8"/>
                </a:solidFill>
                <a:latin typeface="Aptos"/>
              </a:defRPr>
            </a:pPr>
            <a:r>
              <a:t>7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440680" cy="333756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76272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4ECFC6"/>
                </a:solidFill>
                <a:latin typeface="Aptos"/>
              </a:defRPr>
            </a:pPr>
            <a:r>
              <a:t>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07208"/>
            <a:ext cx="505663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Choose examples and annotate relationships</a:t>
            </a:r>
          </a:p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Test prompts and models</a:t>
            </a:r>
          </a:p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Develop simple baselines</a:t>
            </a:r>
          </a:p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Review relevant papers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303520" cy="333756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176272"/>
            <a:ext cx="49377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FFC65B"/>
                </a:solidFill>
                <a:latin typeface="Aptos"/>
              </a:defRPr>
            </a:pPr>
            <a:r>
              <a:t>LATER POSSIBILITIES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807208"/>
            <a:ext cx="491947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Identify objects, shapes, and textures</a:t>
            </a:r>
          </a:p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Confirm inferred structure with a user</a:t>
            </a:r>
          </a:p>
          <a:p>
            <a:pPr>
              <a:spcAft>
                <a:spcPts val="1400"/>
              </a:spcAft>
              <a:defRPr sz="2100" b="0">
                <a:solidFill>
                  <a:srgbClr val="F4F8FC"/>
                </a:solidFill>
                <a:latin typeface="Aptos"/>
              </a:defRPr>
            </a:pPr>
            <a:r>
              <a:t>Pass structural rules to WFC or 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9729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9C9D8"/>
                </a:solidFill>
                <a:latin typeface="Aptos"/>
              </a:defRPr>
            </a:pPr>
            <a:r>
              <a:t>Collaboration welcome; scope and responsibilities remain open for discussion.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F4F8FC"/>
                </a:solidFill>
                <a:latin typeface="Aptos"/>
              </a:defRPr>
            </a:pPr>
            <a:r>
              <a:t>Resources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52728"/>
            <a:ext cx="1188720" cy="50292"/>
          </a:xfrm>
          <a:prstGeom prst="roundRect">
            <a:avLst/>
          </a:prstGeom>
          <a:solidFill>
            <a:srgbClr val="4E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9C9D8"/>
                </a:solidFill>
                <a:latin typeface="Aptos"/>
              </a:defRPr>
            </a:pPr>
            <a:r>
              <a:t>Proposed resources and selected reading — not a completed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64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B9C9D8"/>
                </a:solidFill>
                <a:latin typeface="Aptos"/>
              </a:defRPr>
            </a:pPr>
            <a: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28800"/>
            <a:ext cx="107899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4F8FC"/>
                </a:solidFill>
                <a:latin typeface="Aptos"/>
              </a:defRPr>
            </a:pPr>
            <a:r>
              <a:t>Tilesets:  Kenney Tiny Town · Tiny Dungeon · Tiny Farm</a:t>
            </a:r>
          </a:p>
          <a:p>
            <a:pPr>
              <a:spcAft>
                <a:spcPts val="1400"/>
              </a:spcAft>
              <a:defRPr sz="2200" b="0">
                <a:solidFill>
                  <a:srgbClr val="F4F8FC"/>
                </a:solidFill>
                <a:latin typeface="Aptos"/>
              </a:defRPr>
            </a:pPr>
            <a:r>
              <a:t>Zelda map data:  inventwithpython.com</a:t>
            </a:r>
          </a:p>
          <a:p>
            <a:pPr>
              <a:spcAft>
                <a:spcPts val="1400"/>
              </a:spcAft>
              <a:defRPr sz="2200" b="0">
                <a:solidFill>
                  <a:srgbClr val="F4F8FC"/>
                </a:solidFill>
                <a:latin typeface="Aptos"/>
              </a:defRPr>
            </a:pPr>
            <a:r>
              <a:t>Related work:  Video Game Level Corpus · Tile Embedding</a:t>
            </a:r>
          </a:p>
          <a:p>
            <a:pPr>
              <a:spcAft>
                <a:spcPts val="1400"/>
              </a:spcAft>
              <a:defRPr sz="2200" b="0">
                <a:solidFill>
                  <a:srgbClr val="F4F8FC"/>
                </a:solidFill>
                <a:latin typeface="Aptos"/>
              </a:defRPr>
            </a:pPr>
            <a:r>
              <a:t>Patterns and PCG · GameTileNet · Learned Level Representations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10698480" cy="960120"/>
          </a:xfrm>
          <a:prstGeom prst="roundRect">
            <a:avLst/>
          </a:prstGeom>
          <a:solidFill>
            <a:srgbClr val="1E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92861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4ECFC6"/>
                </a:solidFill>
                <a:latin typeface="Aptos"/>
              </a:defRPr>
            </a:pPr>
            <a:r>
              <a:t>github.com/stevex24/tile-understanding-benchmark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6188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B9C9D8"/>
                </a:solidFill>
                <a:latin typeface="Aptos"/>
              </a:defRPr>
            </a:pPr>
            <a:r>
              <a:t>Next: select a first tileset, freeze tasks, annotate ground truth, and run baseline trials.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