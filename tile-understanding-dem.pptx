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100" b="1">
                <a:solidFill>
                  <a:srgbClr val="1C6B9D"/>
                </a:solidFill>
                <a:latin typeface="Aptos"/>
              </a:rPr>
              <a:t>RESEARCH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5895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3200" b="1">
                <a:solidFill>
                  <a:srgbClr val="1C2D43"/>
                </a:solidFill>
                <a:latin typeface="Aptos"/>
              </a:rPr>
              <a:t>Can an LLM understand a game tileset?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627632"/>
            <a:ext cx="960120" cy="50292"/>
          </a:xfrm>
          <a:prstGeom prst="rect">
            <a:avLst/>
          </a:prstGeom>
          <a:solidFill>
            <a:srgbClr val="1C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9222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5A6877"/>
                </a:solidFill>
                <a:latin typeface="Aptos"/>
              </a:rPr>
              <a:t>Benchmarking LLM Tile Understanding and Tile 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967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5A6877"/>
                </a:solidFill>
                <a:latin typeface="Aptos"/>
              </a:rPr>
              <a:t>UCSC  •  Augmented Design Lab  |  October 27,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9224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5A6877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74320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900" b="1">
                <a:solidFill>
                  <a:srgbClr val="1C2D43"/>
                </a:solidFill>
                <a:latin typeface="Aptos"/>
              </a:rPr>
              <a:t>Recognize tile relationships.</a:t>
            </a:r>
          </a:p>
          <a:p>
            <a:pPr>
              <a:spcAft>
                <a:spcPts val="900"/>
              </a:spcAft>
            </a:pPr>
            <a:r>
              <a:rPr sz="2900" b="1">
                <a:solidFill>
                  <a:srgbClr val="1C2D43"/>
                </a:solidFill>
                <a:latin typeface="Aptos"/>
              </a:rPr>
              <a:t>Reconstruct tilesets. Generate coherent levels.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5166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5A6877"/>
                </a:solidFill>
                <a:latin typeface="Aptos"/>
              </a:rPr>
              <a:t>Existing WFC/SAT research  •  A reproducible benchmark  •  Collaboration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100" b="1">
                <a:solidFill>
                  <a:srgbClr val="1C6B9D"/>
                </a:solidFill>
                <a:latin typeface="Aptos"/>
              </a:rPr>
              <a:t>RESEARCH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5895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3200" b="1">
                <a:solidFill>
                  <a:srgbClr val="1C2D43"/>
                </a:solidFill>
                <a:latin typeface="Aptos"/>
              </a:rPr>
              <a:t>Three questions for multimodal models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627632"/>
            <a:ext cx="960120" cy="50292"/>
          </a:xfrm>
          <a:prstGeom prst="rect">
            <a:avLst/>
          </a:prstGeom>
          <a:solidFill>
            <a:srgbClr val="1C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51967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5A6877"/>
                </a:solidFill>
                <a:latin typeface="Aptos"/>
              </a:rPr>
              <a:t>UCSC  •  Augmented Design Lab  |  October 27,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9224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5A6877"/>
                </a:solidFill>
                <a:latin typeface="Aptos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423160"/>
            <a:ext cx="3566160" cy="3246120"/>
          </a:xfrm>
          <a:prstGeom prst="roundRect">
            <a:avLst/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2587752"/>
            <a:ext cx="31638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1">
                <a:solidFill>
                  <a:srgbClr val="1C6B9D"/>
                </a:solidFill>
                <a:latin typeface="Aptos"/>
              </a:rPr>
              <a:t>01  GENERATE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172968"/>
            <a:ext cx="3163824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242C35"/>
                </a:solidFill>
                <a:latin typeface="Aptos"/>
              </a:rPr>
              <a:t>Given a tileset, can a model build a coherent level?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98848" y="2423160"/>
            <a:ext cx="3566160" cy="3246120"/>
          </a:xfrm>
          <a:prstGeom prst="roundRect">
            <a:avLst/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0016" y="2587752"/>
            <a:ext cx="31638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1">
                <a:solidFill>
                  <a:srgbClr val="1C6B9D"/>
                </a:solidFill>
                <a:latin typeface="Aptos"/>
              </a:rPr>
              <a:t>02  RELATE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0016" y="3172968"/>
            <a:ext cx="3163824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242C35"/>
                </a:solidFill>
                <a:latin typeface="Aptos"/>
              </a:rPr>
              <a:t>Can it infer relationships among tiles and groups?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39328" y="2423160"/>
            <a:ext cx="3566160" cy="3246120"/>
          </a:xfrm>
          <a:prstGeom prst="roundRect">
            <a:avLst/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0496" y="2587752"/>
            <a:ext cx="31638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1">
                <a:solidFill>
                  <a:srgbClr val="1C6B9D"/>
                </a:solidFill>
                <a:latin typeface="Aptos"/>
              </a:rPr>
              <a:t>03  LEARN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0496" y="3172968"/>
            <a:ext cx="3163824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242C35"/>
                </a:solidFill>
                <a:latin typeface="Aptos"/>
              </a:rPr>
              <a:t>How much do example levels improve performance?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100" b="1">
                <a:solidFill>
                  <a:srgbClr val="1C6B9D"/>
                </a:solidFill>
                <a:latin typeface="Aptos"/>
              </a:rPr>
              <a:t>PREVIOUS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5895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3200" b="1">
                <a:solidFill>
                  <a:srgbClr val="1C2D43"/>
                </a:solidFill>
                <a:latin typeface="Aptos"/>
              </a:rPr>
              <a:t>Zelda: original and generated levels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627632"/>
            <a:ext cx="960120" cy="50292"/>
          </a:xfrm>
          <a:prstGeom prst="rect">
            <a:avLst/>
          </a:prstGeom>
          <a:solidFill>
            <a:srgbClr val="1C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9222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5A6877"/>
                </a:solidFill>
                <a:latin typeface="Aptos"/>
              </a:rPr>
              <a:t>WFC and SAT motivate tests of higher-level structural understanding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967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5A6877"/>
                </a:solidFill>
                <a:latin typeface="Aptos"/>
              </a:rPr>
              <a:t>UCSC  •  Augmented Design Lab  |  October 27,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9224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5A6877"/>
                </a:solidFill>
                <a:latin typeface="Aptos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44144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1">
                <a:solidFill>
                  <a:srgbClr val="1C2D43"/>
                </a:solidFill>
                <a:latin typeface="Aptos"/>
              </a:rPr>
              <a:t>Original Zelda map</a:t>
            </a:r>
          </a:p>
        </p:txBody>
      </p:sp>
      <p:pic>
        <p:nvPicPr>
          <p:cNvPr id="9" name="Picture 8" descr="_zsli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708294"/>
            <a:ext cx="3429000" cy="117877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26280" y="244144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1">
                <a:solidFill>
                  <a:srgbClr val="1C2D43"/>
                </a:solidFill>
                <a:latin typeface="Aptos"/>
              </a:rPr>
              <a:t>Context-sensitive WFC</a:t>
            </a:r>
          </a:p>
        </p:txBody>
      </p:sp>
      <p:pic>
        <p:nvPicPr>
          <p:cNvPr id="11" name="Picture 10" descr="_zslide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0620" y="3017520"/>
            <a:ext cx="2560320" cy="2560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366760" y="244144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1">
                <a:solidFill>
                  <a:srgbClr val="1C2D43"/>
                </a:solidFill>
                <a:latin typeface="Aptos"/>
              </a:rPr>
              <a:t>Context-sensitive WFC-as-SAT</a:t>
            </a:r>
          </a:p>
        </p:txBody>
      </p:sp>
      <p:pic>
        <p:nvPicPr>
          <p:cNvPr id="13" name="Picture 12" descr="_zslide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100" y="3017520"/>
            <a:ext cx="2560320" cy="2560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1520" y="583387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5A6877"/>
                </a:solidFill>
                <a:latin typeface="Aptos"/>
              </a:rPr>
              <a:t>Existing algorithms can reproduce local patterns without recovering every semantic object.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100" b="1">
                <a:solidFill>
                  <a:srgbClr val="1C6B9D"/>
                </a:solidFill>
                <a:latin typeface="Aptos"/>
              </a:rPr>
              <a:t>PROPOSED BENCHMARK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5895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3200" b="1">
                <a:solidFill>
                  <a:srgbClr val="1C2D43"/>
                </a:solidFill>
                <a:latin typeface="Aptos"/>
              </a:rPr>
              <a:t>Tiny Town: level image ⇄ tileset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627632"/>
            <a:ext cx="960120" cy="50292"/>
          </a:xfrm>
          <a:prstGeom prst="rect">
            <a:avLst/>
          </a:prstGeom>
          <a:solidFill>
            <a:srgbClr val="1C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9222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t>Two inverse tasks using the same source images  •  Kenney Tiny Town (CC0)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967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5A6877"/>
                </a:solidFill>
                <a:latin typeface="Aptos"/>
              </a:rPr>
              <a:t>UCSC  •  Augmented Design Lab  |  October 27,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9224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5A6877"/>
                </a:solidFill>
                <a:latin typeface="Aptos"/>
              </a:rPr>
              <a:t>4</a:t>
            </a:r>
          </a:p>
        </p:txBody>
      </p:sp>
      <p:pic>
        <p:nvPicPr>
          <p:cNvPr id="8" name="Picture 7" descr="tiny_town_tile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2807208"/>
            <a:ext cx="3212257" cy="2971800"/>
          </a:xfrm>
          <a:prstGeom prst="rect">
            <a:avLst/>
          </a:prstGeom>
        </p:spPr>
      </p:pic>
      <p:pic>
        <p:nvPicPr>
          <p:cNvPr id="9" name="Picture 8" descr="tiny_town_sam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2" y="2944368"/>
            <a:ext cx="4709160" cy="264942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" y="2395728"/>
            <a:ext cx="5029200" cy="32004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800" b="1">
                <a:solidFill>
                  <a:srgbClr val="1E2D3E"/>
                </a:solidFill>
                <a:latin typeface="Aptos"/>
              </a:defRPr>
            </a:pPr>
            <a:r>
              <a:t>TILESET / PALETTE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395728"/>
            <a:ext cx="4937760" cy="32004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800" b="1">
                <a:solidFill>
                  <a:srgbClr val="1E2D3E"/>
                </a:solidFill>
                <a:latin typeface="Aptos"/>
              </a:defRPr>
            </a:pPr>
            <a:r>
              <a:t>EXAMPLE TOWN IMAGE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5888736"/>
            <a:ext cx="5166360" cy="42976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700" b="1">
                <a:solidFill>
                  <a:srgbClr val="1E2D3E"/>
                </a:solidFill>
                <a:latin typeface="Aptos"/>
              </a:defRPr>
            </a:pPr>
            <a:r>
              <a:t>Tileset → construct a coherent town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5888736"/>
            <a:ext cx="5303520" cy="42976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700" b="1">
                <a:solidFill>
                  <a:srgbClr val="1E2D3E"/>
                </a:solidFill>
                <a:latin typeface="Aptos"/>
              </a:defRPr>
            </a:pPr>
            <a:r>
              <a:t>Town image → recover its tileset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100" b="1">
                <a:solidFill>
                  <a:srgbClr val="1C6B9D"/>
                </a:solidFill>
                <a:latin typeface="Aptos"/>
              </a:rPr>
              <a:t>TILE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5895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3200" b="1">
                <a:solidFill>
                  <a:srgbClr val="1C2D43"/>
                </a:solidFill>
                <a:latin typeface="Aptos"/>
              </a:rPr>
              <a:t>A tileset is more than a bag of images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627632"/>
            <a:ext cx="960120" cy="50292"/>
          </a:xfrm>
          <a:prstGeom prst="rect">
            <a:avLst/>
          </a:prstGeom>
          <a:solidFill>
            <a:srgbClr val="1C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9222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5A6877"/>
                </a:solidFill>
                <a:latin typeface="Aptos"/>
              </a:rPr>
              <a:t>What relationships should a multimodal model discover?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967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5A6877"/>
                </a:solidFill>
                <a:latin typeface="Aptos"/>
              </a:rPr>
              <a:t>UCSC  •  Augmented Design Lab  |  October 27,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9224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5A6877"/>
                </a:solidFill>
                <a:latin typeface="Aptos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423160"/>
            <a:ext cx="3566160" cy="3154680"/>
          </a:xfrm>
          <a:prstGeom prst="roundRect">
            <a:avLst/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587752"/>
            <a:ext cx="31638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1">
                <a:solidFill>
                  <a:srgbClr val="1C6B9D"/>
                </a:solidFill>
                <a:latin typeface="Aptos"/>
              </a:rPr>
              <a:t>ROLE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172968"/>
            <a:ext cx="3163824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242C35"/>
                </a:solidFill>
                <a:latin typeface="Aptos"/>
              </a:rPr>
              <a:t>Roof • wall • floor • door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98848" y="2423160"/>
            <a:ext cx="3566160" cy="3154680"/>
          </a:xfrm>
          <a:prstGeom prst="roundRect">
            <a:avLst/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0016" y="2587752"/>
            <a:ext cx="31638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1">
                <a:solidFill>
                  <a:srgbClr val="1C6B9D"/>
                </a:solidFill>
                <a:latin typeface="Aptos"/>
              </a:rPr>
              <a:t>LOCAL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0016" y="3172968"/>
            <a:ext cx="3163824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242C35"/>
                </a:solidFill>
                <a:latin typeface="Aptos"/>
              </a:rPr>
              <a:t>Which tile edges can meet?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39328" y="2423160"/>
            <a:ext cx="3566160" cy="3154680"/>
          </a:xfrm>
          <a:prstGeom prst="roundRect">
            <a:avLst/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0496" y="2587752"/>
            <a:ext cx="31638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1">
                <a:solidFill>
                  <a:srgbClr val="1C6B9D"/>
                </a:solidFill>
                <a:latin typeface="Aptos"/>
              </a:rPr>
              <a:t>STRUCTURE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0496" y="3172968"/>
            <a:ext cx="3163824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242C35"/>
                </a:solidFill>
                <a:latin typeface="Aptos"/>
              </a:rPr>
              <a:t>Which groups form a house or room?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5806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5A6877"/>
                </a:solidFill>
                <a:latin typeface="Aptos"/>
              </a:rPr>
              <a:t>Treat predictions as hypotheses; validate them against annotations and explicit rules.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100" b="1">
                <a:solidFill>
                  <a:srgbClr val="1C6B9D"/>
                </a:solidFill>
                <a:latin typeface="Aptos"/>
              </a:rPr>
              <a:t>EXPERIMENTAL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5895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3200" b="1">
                <a:solidFill>
                  <a:srgbClr val="1C2D43"/>
                </a:solidFill>
                <a:latin typeface="Aptos"/>
              </a:rPr>
              <a:t>Examples or no examples?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627632"/>
            <a:ext cx="960120" cy="50292"/>
          </a:xfrm>
          <a:prstGeom prst="rect">
            <a:avLst/>
          </a:prstGeom>
          <a:solidFill>
            <a:srgbClr val="1C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9222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5A6877"/>
                </a:solidFill>
                <a:latin typeface="Aptos"/>
              </a:rPr>
              <a:t>Hold the model, task, tile IDs, and scoring constant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967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5A6877"/>
                </a:solidFill>
                <a:latin typeface="Aptos"/>
              </a:rPr>
              <a:t>UCSC  •  Augmented Design Lab  |  October 27,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9224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5A6877"/>
                </a:solidFill>
                <a:latin typeface="Aptos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" y="2441448"/>
            <a:ext cx="5349240" cy="3017520"/>
          </a:xfrm>
          <a:prstGeom prst="roundRect">
            <a:avLst/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256" y="2606040"/>
            <a:ext cx="4946903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1">
                <a:solidFill>
                  <a:srgbClr val="1C6B9D"/>
                </a:solidFill>
                <a:latin typeface="Aptos"/>
              </a:rPr>
              <a:t>A  TILESET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" y="3191256"/>
            <a:ext cx="4946903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242C35"/>
                </a:solidFill>
                <a:latin typeface="Aptos"/>
              </a:rPr>
              <a:t>Atlas + tile IDs + the same question or construction task.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2441448"/>
            <a:ext cx="5257800" cy="3017520"/>
          </a:xfrm>
          <a:prstGeom prst="roundRect">
            <a:avLst/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606040"/>
            <a:ext cx="48554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1">
                <a:solidFill>
                  <a:srgbClr val="1C6B9D"/>
                </a:solidFill>
                <a:latin typeface="Aptos"/>
              </a:rPr>
              <a:t>B  TILESET + LEVELS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3191256"/>
            <a:ext cx="485546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242C35"/>
                </a:solidFill>
                <a:latin typeface="Aptos"/>
              </a:rPr>
              <a:t>Same atlas and task, plus one or more example levels.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76072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0">
                <a:solidFill>
                  <a:srgbClr val="5A6877"/>
                </a:solidFill>
                <a:latin typeface="Aptos"/>
              </a:rPr>
              <a:t>Candidates: Kenney Tiny Town, Tiny Dungeon, Tiny Farm, and Zelda.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100" b="1">
                <a:solidFill>
                  <a:srgbClr val="1C6B9D"/>
                </a:solidFill>
                <a:latin typeface="Aptos"/>
              </a:rPr>
              <a:t>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5895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3200" b="1">
                <a:solidFill>
                  <a:srgbClr val="1C2D43"/>
                </a:solidFill>
                <a:latin typeface="Aptos"/>
              </a:rPr>
              <a:t>Tasks and measurements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627632"/>
            <a:ext cx="960120" cy="50292"/>
          </a:xfrm>
          <a:prstGeom prst="rect">
            <a:avLst/>
          </a:prstGeom>
          <a:solidFill>
            <a:srgbClr val="1C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9222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5A6877"/>
                </a:solidFill>
                <a:latin typeface="Aptos"/>
              </a:rPr>
              <a:t>Start with a small, reproducible benchmark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967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5A6877"/>
                </a:solidFill>
                <a:latin typeface="Aptos"/>
              </a:rPr>
              <a:t>UCSC  •  Augmented Design Lab  |  October 27,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9224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5A6877"/>
                </a:solidFill>
                <a:latin typeface="Aptos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" y="2395728"/>
            <a:ext cx="5349240" cy="3337560"/>
          </a:xfrm>
          <a:prstGeom prst="roundRect">
            <a:avLst/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256" y="2560320"/>
            <a:ext cx="4946903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1">
                <a:solidFill>
                  <a:srgbClr val="1C6B9D"/>
                </a:solidFill>
                <a:latin typeface="Aptos"/>
              </a:rPr>
              <a:t>MODEL TASKS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" y="3145536"/>
            <a:ext cx="4946903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242C35"/>
                </a:solidFill>
                <a:latin typeface="Aptos"/>
              </a:rPr>
              <a:t>Identify tile roles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242C35"/>
                </a:solidFill>
                <a:latin typeface="Aptos"/>
              </a:rPr>
              <a:t>Predict adjacency and assemblies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242C35"/>
                </a:solidFill>
                <a:latin typeface="Aptos"/>
              </a:rPr>
              <a:t>Generate tile-ID grids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242C35"/>
                </a:solidFill>
                <a:latin typeface="Aptos"/>
              </a:rPr>
              <a:t>Repair broken arrangements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2395728"/>
            <a:ext cx="5257800" cy="3337560"/>
          </a:xfrm>
          <a:prstGeom prst="roundRect">
            <a:avLst/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560320"/>
            <a:ext cx="48554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1">
                <a:solidFill>
                  <a:srgbClr val="1C6B9D"/>
                </a:solidFill>
                <a:latin typeface="Aptos"/>
              </a:rPr>
              <a:t>EVALUATION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3145536"/>
            <a:ext cx="4855464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242C35"/>
                </a:solidFill>
                <a:latin typeface="Aptos"/>
              </a:rPr>
              <a:t>Valid IDs and dimensions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242C35"/>
                </a:solidFill>
                <a:latin typeface="Aptos"/>
              </a:rPr>
              <a:t>Constraint satisfaction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242C35"/>
                </a:solidFill>
                <a:latin typeface="Aptos"/>
              </a:rPr>
              <a:t>Precision / recall / F1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242C35"/>
                </a:solidFill>
                <a:latin typeface="Aptos"/>
              </a:rPr>
              <a:t>Blind human coherence rubric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100" b="1">
                <a:solidFill>
                  <a:srgbClr val="1C6B9D"/>
                </a:solidFill>
                <a:latin typeface="Aptos"/>
              </a:rPr>
              <a:t>COLLABORATION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5895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3200" b="1">
                <a:solidFill>
                  <a:srgbClr val="1C2D43"/>
                </a:solidFill>
                <a:latin typeface="Aptos"/>
              </a:rPr>
              <a:t>A small project others can join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627632"/>
            <a:ext cx="960120" cy="50292"/>
          </a:xfrm>
          <a:prstGeom prst="rect">
            <a:avLst/>
          </a:prstGeom>
          <a:solidFill>
            <a:srgbClr val="1C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9222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5A6877"/>
                </a:solidFill>
                <a:latin typeface="Aptos"/>
              </a:rPr>
              <a:t>First milestone: one tileset, annotated tasks, and two input conditions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967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5A6877"/>
                </a:solidFill>
                <a:latin typeface="Aptos"/>
              </a:rPr>
              <a:t>UCSC  •  Augmented Design Lab  |  October 27,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9224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5A6877"/>
                </a:solidFill>
                <a:latin typeface="Aptos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" y="2423160"/>
            <a:ext cx="5349240" cy="3200400"/>
          </a:xfrm>
          <a:prstGeom prst="roundRect">
            <a:avLst/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256" y="2587752"/>
            <a:ext cx="4946903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1">
                <a:solidFill>
                  <a:srgbClr val="1C6B9D"/>
                </a:solidFill>
                <a:latin typeface="Aptos"/>
              </a:rPr>
              <a:t>CONTRIBUTIONS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" y="3172968"/>
            <a:ext cx="4946903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242C35"/>
                </a:solidFill>
                <a:latin typeface="Aptos"/>
              </a:rPr>
              <a:t>Choose and annotate examples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242C35"/>
                </a:solidFill>
                <a:latin typeface="Aptos"/>
              </a:rPr>
              <a:t>Test prompts and models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242C35"/>
                </a:solidFill>
                <a:latin typeface="Aptos"/>
              </a:rPr>
              <a:t>Develop simple baselines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242C35"/>
                </a:solidFill>
                <a:latin typeface="Aptos"/>
              </a:rPr>
              <a:t>Review relevant papers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2423160"/>
            <a:ext cx="5257800" cy="3200400"/>
          </a:xfrm>
          <a:prstGeom prst="roundRect">
            <a:avLst/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587752"/>
            <a:ext cx="48554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1">
                <a:solidFill>
                  <a:srgbClr val="1C6B9D"/>
                </a:solidFill>
                <a:latin typeface="Aptos"/>
              </a:rPr>
              <a:t>LATER POSSIBILITIES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3172968"/>
            <a:ext cx="4855464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242C35"/>
                </a:solidFill>
                <a:latin typeface="Aptos"/>
              </a:rPr>
              <a:t>Identify objects, shapes, textures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242C35"/>
                </a:solidFill>
                <a:latin typeface="Aptos"/>
              </a:rPr>
              <a:t>Confirm inferred structures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242C35"/>
                </a:solidFill>
                <a:latin typeface="Aptos"/>
              </a:rPr>
              <a:t>Pass structural rules to WFC or SAT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100" b="1">
                <a:solidFill>
                  <a:srgbClr val="1C6B9D"/>
                </a:solidFill>
                <a:latin typeface="Aptos"/>
              </a:rPr>
              <a:t>RESOURCES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5895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3200" b="1">
                <a:solidFill>
                  <a:srgbClr val="1C2D43"/>
                </a:solidFill>
                <a:latin typeface="Aptos"/>
              </a:rPr>
              <a:t>Resources and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627632"/>
            <a:ext cx="960120" cy="50292"/>
          </a:xfrm>
          <a:prstGeom prst="rect">
            <a:avLst/>
          </a:prstGeom>
          <a:solidFill>
            <a:srgbClr val="1C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9222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5A6877"/>
                </a:solidFill>
                <a:latin typeface="Aptos"/>
              </a:rPr>
              <a:t>A research proposal, not a completed literature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967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5A6877"/>
                </a:solidFill>
                <a:latin typeface="Aptos"/>
              </a:rPr>
              <a:t>UCSC  •  Augmented Design Lab  |  October 27,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9224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5A6877"/>
                </a:solidFill>
                <a:latin typeface="Aptos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0789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242C35"/>
                </a:solidFill>
                <a:latin typeface="Aptos"/>
              </a:rPr>
              <a:t>Tilesets: Kenney Tiny Town • Tiny Dungeon • Tiny Farm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242C35"/>
                </a:solidFill>
                <a:latin typeface="Aptos"/>
              </a:rPr>
              <a:t>Zelda map data: inventwithpython.com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242C35"/>
                </a:solidFill>
                <a:latin typeface="Aptos"/>
              </a:rPr>
              <a:t>Related work: Video Game Level Corpus • Tile Embedding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242C35"/>
                </a:solidFill>
                <a:latin typeface="Aptos"/>
              </a:rPr>
              <a:t>Patterns and PCG • GameTileNet • Learned Level Representations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6636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300" b="1">
                <a:solidFill>
                  <a:srgbClr val="1C6B9D"/>
                </a:solidFill>
                <a:latin typeface="Aptos"/>
              </a:rPr>
              <a:t>github.com/stevex24/tile-understanding-benchmark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897880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 b="0">
                <a:solidFill>
                  <a:srgbClr val="5A6877"/>
                </a:solidFill>
                <a:latin typeface="Aptos"/>
              </a:rPr>
              <a:t>Next: select a tileset, annotate ground truth, and run baseline trials.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