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5" r:id="rId16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 b="1">
                <a:solidFill>
                  <a:srgbClr val="1C6B9D"/>
                </a:solidFill>
                <a:latin typeface="Aptos"/>
              </a:rPr>
              <a:t>RESEARCH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3200" b="1">
                <a:solidFill>
                  <a:srgbClr val="1C2D43"/>
                </a:solidFill>
                <a:latin typeface="Aptos"/>
              </a:rPr>
              <a:t>Can an LLM understand a game tileset?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627632"/>
            <a:ext cx="960120" cy="50292"/>
          </a:xfrm>
          <a:prstGeom prst="rect">
            <a:avLst/>
          </a:prstGeom>
          <a:solidFill>
            <a:srgbClr val="1C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9222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5A6877"/>
                </a:solidFill>
                <a:latin typeface="Aptos"/>
              </a:rPr>
              <a:t>Benchmarking LLM Tile Understanding and Tile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UCSC  •  Augmented Design Lab  |  October 27,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432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900" b="1">
                <a:solidFill>
                  <a:srgbClr val="1C2D43"/>
                </a:solidFill>
                <a:latin typeface="Aptos"/>
              </a:rPr>
              <a:t>Recognize tile relationships.</a:t>
            </a:r>
          </a:p>
          <a:p>
            <a:pPr>
              <a:spcAft>
                <a:spcPts val="900"/>
              </a:spcAft>
            </a:pPr>
            <a:r>
              <a:rPr sz="2900" b="1">
                <a:solidFill>
                  <a:srgbClr val="1C2D43"/>
                </a:solidFill>
                <a:latin typeface="Aptos"/>
              </a:rPr>
              <a:t>Reconstruct tilesets. Generate coherent levels.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166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5A6877"/>
                </a:solidFill>
                <a:latin typeface="Aptos"/>
              </a:rPr>
              <a:t>Existing WFC/SAT research  •  A reproducible benchmark  •  Collaboration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 b="1">
                <a:solidFill>
                  <a:srgbClr val="1C6B9D"/>
                </a:solidFill>
                <a:latin typeface="Aptos"/>
              </a:rP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3200" b="1">
                <a:solidFill>
                  <a:srgbClr val="1C2D43"/>
                </a:solidFill>
                <a:latin typeface="Aptos"/>
              </a:rPr>
              <a:t>Three questions for multimodal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627632"/>
            <a:ext cx="960120" cy="50292"/>
          </a:xfrm>
          <a:prstGeom prst="rect">
            <a:avLst/>
          </a:prstGeom>
          <a:solidFill>
            <a:srgbClr val="1C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UCSC  •  Augmented Design Lab  |  October 27,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23160"/>
            <a:ext cx="3566160" cy="324612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587752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1C6B9D"/>
                </a:solidFill>
                <a:latin typeface="Aptos"/>
              </a:rPr>
              <a:t>01  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172968"/>
            <a:ext cx="316382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Given a tileset, can a model build a coherent level?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2423160"/>
            <a:ext cx="3566160" cy="324612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2587752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1C6B9D"/>
                </a:solidFill>
                <a:latin typeface="Aptos"/>
              </a:rPr>
              <a:t>02  RELATE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3172968"/>
            <a:ext cx="316382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Can it infer relationships among tiles and groups?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39328" y="2423160"/>
            <a:ext cx="3566160" cy="324612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6" y="2587752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1C6B9D"/>
                </a:solidFill>
                <a:latin typeface="Aptos"/>
              </a:rPr>
              <a:t>03  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0496" y="3172968"/>
            <a:ext cx="316382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How much do example levels improve performance?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 b="1">
                <a:solidFill>
                  <a:srgbClr val="1C6B9D"/>
                </a:solidFill>
                <a:latin typeface="Aptos"/>
              </a:rPr>
              <a:t>PREVIOUS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3200" b="1">
                <a:solidFill>
                  <a:srgbClr val="1C2D43"/>
                </a:solidFill>
                <a:latin typeface="Aptos"/>
              </a:rPr>
              <a:t>Zelda: original and generated levels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627632"/>
            <a:ext cx="960120" cy="50292"/>
          </a:xfrm>
          <a:prstGeom prst="rect">
            <a:avLst/>
          </a:prstGeom>
          <a:solidFill>
            <a:srgbClr val="1C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9222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5A6877"/>
                </a:solidFill>
                <a:latin typeface="Aptos"/>
              </a:rPr>
              <a:t>WFC and SAT motivate tests of higher-level structural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UCSC  •  Augmented Design Lab  |  October 27,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414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1C2D43"/>
                </a:solidFill>
                <a:latin typeface="Aptos"/>
              </a:rPr>
              <a:t>Original Zelda map</a:t>
            </a:r>
          </a:p>
        </p:txBody>
      </p:sp>
      <p:pic>
        <p:nvPicPr>
          <p:cNvPr id="9" name="Picture 8" descr="_z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708294"/>
            <a:ext cx="3429000" cy="11787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26280" y="24414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1C2D43"/>
                </a:solidFill>
                <a:latin typeface="Aptos"/>
              </a:rPr>
              <a:t>Context-sensitive WFC</a:t>
            </a:r>
          </a:p>
        </p:txBody>
      </p:sp>
      <p:pic>
        <p:nvPicPr>
          <p:cNvPr id="11" name="Picture 10" descr="_zsli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620" y="3017520"/>
            <a:ext cx="2560320" cy="2560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66760" y="24414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1C2D43"/>
                </a:solidFill>
                <a:latin typeface="Aptos"/>
              </a:rPr>
              <a:t>Context-sensitive WFC-as-SAT</a:t>
            </a:r>
          </a:p>
        </p:txBody>
      </p:sp>
      <p:pic>
        <p:nvPicPr>
          <p:cNvPr id="13" name="Picture 12" descr="_zsli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0" y="3017520"/>
            <a:ext cx="2560320" cy="2560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583387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5A6877"/>
                </a:solidFill>
                <a:latin typeface="Aptos"/>
              </a:rPr>
              <a:t>Existing algorithms can reproduce local patterns without recovering every semantic object.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 b="1">
                <a:solidFill>
                  <a:srgbClr val="1C6B9D"/>
                </a:solidFill>
                <a:latin typeface="Aptos"/>
              </a:rPr>
              <a:t>PROPOSED BENCHMARK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3200" b="1">
                <a:solidFill>
                  <a:srgbClr val="1C2D43"/>
                </a:solidFill>
                <a:latin typeface="Aptos"/>
              </a:rPr>
              <a:t>Tiny Town: level image ⇄ tileset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627632"/>
            <a:ext cx="960120" cy="50292"/>
          </a:xfrm>
          <a:prstGeom prst="rect">
            <a:avLst/>
          </a:prstGeom>
          <a:solidFill>
            <a:srgbClr val="1C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9222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t>Two inverse tasks using the same source images  •  Kenney Tiny Town (CC0)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UCSC  •  Augmented Design Lab  |  October 27,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4</a:t>
            </a:r>
          </a:p>
        </p:txBody>
      </p:sp>
      <p:pic>
        <p:nvPicPr>
          <p:cNvPr id="8" name="Picture 7" descr="tiny_town_tile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807208"/>
            <a:ext cx="3212257" cy="2971800"/>
          </a:xfrm>
          <a:prstGeom prst="rect">
            <a:avLst/>
          </a:prstGeom>
        </p:spPr>
      </p:pic>
      <p:pic>
        <p:nvPicPr>
          <p:cNvPr id="9" name="Picture 8" descr="tiny_town_s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944368"/>
            <a:ext cx="4709160" cy="264942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2395728"/>
            <a:ext cx="5029200" cy="3200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1E2D3E"/>
                </a:solidFill>
                <a:latin typeface="Aptos"/>
              </a:defRPr>
            </a:pPr>
            <a:r>
              <a:t>TILESET / PALETTE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95728"/>
            <a:ext cx="4937760" cy="3200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1E2D3E"/>
                </a:solidFill>
                <a:latin typeface="Aptos"/>
              </a:defRPr>
            </a:pPr>
            <a:r>
              <a:t>EXAMPLE TOWN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5888736"/>
            <a:ext cx="5166360" cy="42976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700" b="1">
                <a:solidFill>
                  <a:srgbClr val="1E2D3E"/>
                </a:solidFill>
                <a:latin typeface="Aptos"/>
              </a:defRPr>
            </a:pPr>
            <a:r>
              <a:t>Tileset → construct a coherent town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5888736"/>
            <a:ext cx="5303520" cy="42976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700" b="1">
                <a:solidFill>
                  <a:srgbClr val="1E2D3E"/>
                </a:solidFill>
                <a:latin typeface="Aptos"/>
              </a:defRPr>
            </a:pPr>
            <a:r>
              <a:t>Town image → recover its tileset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 b="1">
                <a:solidFill>
                  <a:srgbClr val="1C6B9D"/>
                </a:solidFill>
                <a:latin typeface="Aptos"/>
              </a:rPr>
              <a:t>TILE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3200" b="1">
                <a:solidFill>
                  <a:srgbClr val="1C2D43"/>
                </a:solidFill>
                <a:latin typeface="Aptos"/>
              </a:rPr>
              <a:t>A tileset is more than a bag of images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627632"/>
            <a:ext cx="960120" cy="50292"/>
          </a:xfrm>
          <a:prstGeom prst="rect">
            <a:avLst/>
          </a:prstGeom>
          <a:solidFill>
            <a:srgbClr val="1C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9222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5A6877"/>
                </a:solidFill>
                <a:latin typeface="Aptos"/>
              </a:rPr>
              <a:t>What relationships should a multimodal model discover?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UCSC  •  Augmented Design Lab  |  October 27,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23160"/>
            <a:ext cx="3566160" cy="315468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587752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1C6B9D"/>
                </a:solidFill>
                <a:latin typeface="Aptos"/>
              </a:rP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172968"/>
            <a:ext cx="3163824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Roof • wall • floor • door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2423160"/>
            <a:ext cx="3566160" cy="315468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2587752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1C6B9D"/>
                </a:solidFill>
                <a:latin typeface="Aptos"/>
              </a:rPr>
              <a:t>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3172968"/>
            <a:ext cx="3163824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Which tile edges can meet?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9328" y="2423160"/>
            <a:ext cx="3566160" cy="315468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0496" y="2587752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1C6B9D"/>
                </a:solidFill>
                <a:latin typeface="Aptos"/>
              </a:rPr>
              <a:t>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3172968"/>
            <a:ext cx="3163824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Which groups form a house or room?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806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5A6877"/>
                </a:solidFill>
                <a:latin typeface="Aptos"/>
              </a:rPr>
              <a:t>Treat predictions as hypotheses; validate them against annotations and explicit rules.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 b="1">
                <a:solidFill>
                  <a:srgbClr val="1C6B9D"/>
                </a:solidFill>
                <a:latin typeface="Aptos"/>
              </a:rPr>
              <a:t>EXPERIMENTAL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3200" b="1">
                <a:solidFill>
                  <a:srgbClr val="1C2D43"/>
                </a:solidFill>
                <a:latin typeface="Aptos"/>
              </a:rPr>
              <a:t>Examples or no examples?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627632"/>
            <a:ext cx="960120" cy="50292"/>
          </a:xfrm>
          <a:prstGeom prst="rect">
            <a:avLst/>
          </a:prstGeom>
          <a:solidFill>
            <a:srgbClr val="1C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9222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5A6877"/>
                </a:solidFill>
                <a:latin typeface="Aptos"/>
              </a:rPr>
              <a:t>Hold the model, task, tile IDs, and scoring constant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UCSC  •  Augmented Design Lab  |  October 27,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2441448"/>
            <a:ext cx="5349240" cy="301752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606040"/>
            <a:ext cx="494690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1C6B9D"/>
                </a:solidFill>
                <a:latin typeface="Aptos"/>
              </a:rPr>
              <a:t>A  TILESET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191256"/>
            <a:ext cx="4946903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Atlas + tile IDs + the same question or construction task.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2441448"/>
            <a:ext cx="5257800" cy="301752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606040"/>
            <a:ext cx="48554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1C6B9D"/>
                </a:solidFill>
                <a:latin typeface="Aptos"/>
              </a:rPr>
              <a:t>B  TILESET + LEVELS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191256"/>
            <a:ext cx="485546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Same atlas and task, plus one or more example levels.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5A6877"/>
                </a:solidFill>
                <a:latin typeface="Aptos"/>
              </a:rPr>
              <a:t>Candidates: Kenney Tiny Town, Tiny Dungeon, Tiny Farm, and Zelda.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B4A42"/>
                </a:solidFill>
                <a:latin typeface="Aptos"/>
              </a:defRPr>
            </a:pPr>
            <a:r>
              <a:t>MODEL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2C3E"/>
                </a:solidFill>
                <a:latin typeface="Aptos"/>
              </a:defRPr>
            </a:pPr>
            <a:r>
              <a:t>Recognize, generate, and repair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05C68"/>
                </a:solidFill>
                <a:latin typeface="Aptos"/>
              </a:defRPr>
            </a:pPr>
            <a:r>
              <a:t>Example: repair an invalid Tiny Town house arrangement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05C68"/>
                </a:solidFill>
                <a:latin typeface="Aptos"/>
              </a:defRPr>
            </a:pPr>
            <a:r>
              <a:t>UCSC  •  Augmented Design Lab  |  October 27,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05C68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2C3E"/>
                </a:solidFill>
                <a:latin typeface="Aptos"/>
              </a:defRPr>
            </a:pPr>
            <a:r>
              <a:t>Four benchmark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C2C3E"/>
                </a:solidFill>
                <a:latin typeface="Aptos"/>
              </a:defRPr>
            </a:pPr>
            <a:r>
              <a:t>1. Identify tile roles</a:t>
            </a:r>
          </a:p>
          <a:p>
            <a:pPr>
              <a:defRPr sz="1800" b="0">
                <a:solidFill>
                  <a:srgbClr val="1C2C3E"/>
                </a:solidFill>
                <a:latin typeface="Aptos"/>
              </a:defRPr>
            </a:pPr>
            <a:r>
              <a:t>2. Predict adjacency and assemblies</a:t>
            </a:r>
          </a:p>
          <a:p>
            <a:pPr>
              <a:defRPr sz="1800" b="0">
                <a:solidFill>
                  <a:srgbClr val="1C2C3E"/>
                </a:solidFill>
                <a:latin typeface="Aptos"/>
              </a:defRPr>
            </a:pPr>
            <a:r>
              <a:t>3. Generate a tile-ID grid</a:t>
            </a:r>
          </a:p>
          <a:p>
            <a:pPr>
              <a:defRPr sz="1800" b="0">
                <a:solidFill>
                  <a:srgbClr val="1C2C3E"/>
                </a:solidFill>
                <a:latin typeface="Aptos"/>
              </a:defRPr>
            </a:pPr>
            <a:r>
              <a:t>4. Repair a broken arrangement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3657600"/>
            <a:ext cx="2560320" cy="1783080"/>
          </a:xfrm>
          <a:prstGeom prst="rect">
            <a:avLst/>
          </a:prstGeom>
          <a:solidFill>
            <a:srgbClr val="E8C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5696712" y="2697479"/>
            <a:ext cx="3154680" cy="1261872"/>
          </a:xfrm>
          <a:prstGeom prst="triangle">
            <a:avLst/>
          </a:prstGeom>
          <a:solidFill>
            <a:srgbClr val="AB4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13448" y="4617720"/>
            <a:ext cx="548640" cy="822960"/>
          </a:xfrm>
          <a:prstGeom prst="rect">
            <a:avLst/>
          </a:prstGeom>
          <a:solidFill>
            <a:srgbClr val="825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03720" y="3337560"/>
            <a:ext cx="594360" cy="502920"/>
          </a:xfrm>
          <a:prstGeom prst="rect">
            <a:avLst/>
          </a:prstGeom>
          <a:solidFill>
            <a:srgbClr val="9ACDE6"/>
          </a:solidFill>
          <a:ln>
            <a:solidFill>
              <a:srgbClr val="1C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5623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B4A42"/>
                </a:solidFill>
                <a:latin typeface="Aptos"/>
              </a:defRPr>
            </a:pPr>
            <a:r>
              <a:t>MISPLACED WINDOW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3657600"/>
            <a:ext cx="2560320" cy="1783080"/>
          </a:xfrm>
          <a:prstGeom prst="rect">
            <a:avLst/>
          </a:prstGeom>
          <a:solidFill>
            <a:srgbClr val="E8C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8851392" y="2697479"/>
            <a:ext cx="3154680" cy="1261872"/>
          </a:xfrm>
          <a:prstGeom prst="triangle">
            <a:avLst/>
          </a:prstGeom>
          <a:solidFill>
            <a:srgbClr val="AB4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68128" y="4617720"/>
            <a:ext cx="548640" cy="822960"/>
          </a:xfrm>
          <a:prstGeom prst="rect">
            <a:avLst/>
          </a:prstGeom>
          <a:solidFill>
            <a:srgbClr val="825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64040" y="4142231"/>
            <a:ext cx="594360" cy="502920"/>
          </a:xfrm>
          <a:prstGeom prst="rect">
            <a:avLst/>
          </a:prstGeom>
          <a:solidFill>
            <a:srgbClr val="9ACDE6"/>
          </a:solidFill>
          <a:ln>
            <a:solidFill>
              <a:srgbClr val="1C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5623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05C68"/>
                </a:solidFill>
                <a:latin typeface="Aptos"/>
              </a:defRPr>
            </a:pPr>
            <a:r>
              <a:t>WINDOW IN WALL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B4A42"/>
                </a:solidFill>
                <a:latin typeface="Aptos"/>
              </a:defRPr>
            </a:pPr>
            <a:r>
              <a:t>BROKEN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05C68"/>
                </a:solidFill>
                <a:latin typeface="Aptos"/>
              </a:defRPr>
            </a:pPr>
            <a:r>
              <a:t>REPAIRED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521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C2C3E"/>
                </a:solidFill>
                <a:latin typeface="Aptos"/>
              </a:defRPr>
            </a:pPr>
            <a:r>
              <a:t>Repair test: give the model the damaged arrangement and the available tiles; ask it to identify and replace the invalid tile.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 b="1">
                <a:solidFill>
                  <a:srgbClr val="1C6B9D"/>
                </a:solidFill>
                <a:latin typeface="Aptos"/>
              </a:rPr>
              <a:t>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3200" b="1">
                <a:solidFill>
                  <a:srgbClr val="1C2D43"/>
                </a:solidFill>
                <a:latin typeface="Aptos"/>
              </a:rPr>
              <a:t>A small project others can join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627632"/>
            <a:ext cx="960120" cy="50292"/>
          </a:xfrm>
          <a:prstGeom prst="rect">
            <a:avLst/>
          </a:prstGeom>
          <a:solidFill>
            <a:srgbClr val="1C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9222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5A6877"/>
                </a:solidFill>
                <a:latin typeface="Aptos"/>
              </a:rPr>
              <a:t>First milestone: one tileset, annotated tasks, and two input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UCSC  •  Augmented Design Lab  |  October 27,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2423160"/>
            <a:ext cx="5349240" cy="320040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587752"/>
            <a:ext cx="494690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1C6B9D"/>
                </a:solidFill>
                <a:latin typeface="Aptos"/>
              </a:rPr>
              <a:t>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172968"/>
            <a:ext cx="4946903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Choose and annotate examples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Test prompts and models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Develop simple baselines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Review relevant papers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2423160"/>
            <a:ext cx="5257800" cy="320040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587752"/>
            <a:ext cx="48554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1C6B9D"/>
                </a:solidFill>
                <a:latin typeface="Aptos"/>
              </a:rPr>
              <a:t>LATER POSSIBILITIES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172968"/>
            <a:ext cx="485546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Identify objects, shapes, textures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Confirm inferred structures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Pass structural rules to WFC or SAT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 b="1">
                <a:solidFill>
                  <a:srgbClr val="1C6B9D"/>
                </a:solidFill>
                <a:latin typeface="Aptos"/>
              </a:rP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3200" b="1">
                <a:solidFill>
                  <a:srgbClr val="1C2D43"/>
                </a:solidFill>
                <a:latin typeface="Aptos"/>
              </a:rPr>
              <a:t>Resources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627632"/>
            <a:ext cx="960120" cy="50292"/>
          </a:xfrm>
          <a:prstGeom prst="rect">
            <a:avLst/>
          </a:prstGeom>
          <a:solidFill>
            <a:srgbClr val="1C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9222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5A6877"/>
                </a:solidFill>
                <a:latin typeface="Aptos"/>
              </a:rPr>
              <a:t>A research proposal, not a completed 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UCSC  •  Augmented Design Lab  |  October 27,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Tilesets: Kenney Tiny Town • Tiny Dungeon • Tiny Farm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Zelda map data: inventwithpython.com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Related work: Video Game Level Corpus • Tile Embedding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Patterns and PCG • GameTileNet • Learned Level Representations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300" b="1">
                <a:solidFill>
                  <a:srgbClr val="1C6B9D"/>
                </a:solidFill>
                <a:latin typeface="Aptos"/>
              </a:rPr>
              <a:t>github.com/stevex24/tile-understanding-benchmark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97880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5A6877"/>
                </a:solidFill>
                <a:latin typeface="Aptos"/>
              </a:rPr>
              <a:t>Next: select a tileset, annotate ground truth, and run baseline trials.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B4A42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2C3E"/>
                </a:solidFill>
                <a:latin typeface="Aptos"/>
              </a:defRPr>
            </a:pPr>
            <a:r>
              <a:t>How do we measure success?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05C68"/>
                </a:solidFill>
                <a:latin typeface="Aptos"/>
              </a:defRPr>
            </a:pPr>
            <a:r>
              <a:t>Objective scores for labeled tasks; blind human judgments for complete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05C68"/>
                </a:solidFill>
                <a:latin typeface="Aptos"/>
              </a:defRPr>
            </a:pPr>
            <a:r>
              <a:t>UCSC  •  Augmented Design Lab  |  October 27,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05C68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C2C3E"/>
                </a:solidFill>
                <a:latin typeface="Aptos"/>
              </a:defRPr>
            </a:pPr>
            <a:r>
              <a:t>Precision, recall, and 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5532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C2C3E"/>
                </a:solidFill>
                <a:latin typeface="Aptos"/>
              </a:defRPr>
            </a:pPr>
            <a:r>
              <a:t>Precision: of predicted roof tiles, how many are correct?</a:t>
            </a:r>
          </a:p>
          <a:p>
            <a:pPr>
              <a:defRPr sz="1700" b="0">
                <a:solidFill>
                  <a:srgbClr val="1C2C3E"/>
                </a:solidFill>
                <a:latin typeface="Aptos"/>
              </a:defRPr>
            </a:pPr>
            <a:r>
              <a:t>Recall: of all true roof tiles, how many were found?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AB4A42"/>
                </a:solidFill>
                <a:latin typeface="Aptos"/>
              </a:defRPr>
            </a:pPr>
            <a:r>
              <a:t>F1 = 2 × (precision × recall) / (precision + recall)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37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C2C3E"/>
                </a:solidFill>
                <a:latin typeface="Aptos"/>
              </a:defRPr>
            </a:pPr>
            <a:r>
              <a:t>Example: precision 75%, recall 60% → F1 = 66.7%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240280"/>
            <a:ext cx="4754880" cy="347472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2514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2C3E"/>
                </a:solidFill>
                <a:latin typeface="Aptos"/>
              </a:defRPr>
            </a:pPr>
            <a:r>
              <a:t>Blind human coherence rubric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15468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C2C3E"/>
                </a:solidFill>
                <a:latin typeface="Aptos"/>
              </a:defRPr>
            </a:pPr>
            <a:r>
              <a:t>Independent evaluators score generated levels without knowing which model or condition produced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160520"/>
            <a:ext cx="4069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C2C3E"/>
                </a:solidFill>
                <a:latin typeface="Aptos"/>
              </a:defRPr>
            </a:pPr>
            <a:r>
              <a:t>Score each 1–5:</a:t>
            </a:r>
          </a:p>
          <a:p>
            <a:pPr>
              <a:defRPr sz="1500" b="0">
                <a:solidFill>
                  <a:srgbClr val="1C2C3E"/>
                </a:solidFill>
                <a:latin typeface="Aptos"/>
              </a:defRPr>
            </a:pPr>
            <a:r>
              <a:t>• Local tile connections</a:t>
            </a:r>
          </a:p>
          <a:p>
            <a:pPr>
              <a:defRPr sz="1500" b="0">
                <a:solidFill>
                  <a:srgbClr val="1C2C3E"/>
                </a:solidFill>
                <a:latin typeface="Aptos"/>
              </a:defRPr>
            </a:pPr>
            <a:r>
              <a:t>• Recognizable buildings and roads</a:t>
            </a:r>
          </a:p>
          <a:p>
            <a:pPr>
              <a:defRPr sz="1500" b="0">
                <a:solidFill>
                  <a:srgbClr val="1C2C3E"/>
                </a:solidFill>
                <a:latin typeface="Aptos"/>
              </a:defRPr>
            </a:pPr>
            <a:r>
              <a:t>• Overall level plausibility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